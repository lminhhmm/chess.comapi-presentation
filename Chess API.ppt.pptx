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nva Sans Bold" panose="020B0803030501040103" pitchFamily="34" charset="0"/>
      <p:regular r:id="rId26"/>
      <p:bold r:id="rId27"/>
    </p:embeddedFont>
    <p:embeddedFont>
      <p:font typeface="Montserrat" pitchFamily="2" charset="77"/>
      <p:regular r:id="rId28"/>
    </p:embeddedFont>
    <p:embeddedFont>
      <p:font typeface="Montserrat Bold" pitchFamily="2" charset="77"/>
      <p:regular r:id="rId29"/>
      <p:bold r:id="rId30"/>
    </p:embeddedFont>
    <p:embeddedFont>
      <p:font typeface="Montserrat Ultra-Bold" pitchFamily="2" charset="77"/>
      <p:regular r:id="rId31"/>
      <p:bold r:id="rId32"/>
    </p:embeddedFont>
    <p:embeddedFont>
      <p:font typeface="Open Sans" panose="020B0606030504020204" pitchFamily="34" charset="0"/>
      <p:regular r:id="rId33"/>
      <p:bold r:id="rId34"/>
    </p:embeddedFont>
    <p:embeddedFont>
      <p:font typeface="Open Sans Bold" panose="020B0806030504020204" pitchFamily="34" charset="0"/>
      <p:regular r:id="rId35"/>
      <p:bold r:id="rId36"/>
    </p:embeddedFont>
    <p:embeddedFont>
      <p:font typeface="Open Sauce" pitchFamily="2" charset="77"/>
      <p:regular r:id="rId37"/>
    </p:embeddedFont>
    <p:embeddedFont>
      <p:font typeface="Open Sauce Bold" pitchFamily="2" charset="77"/>
      <p:regular r:id="rId38"/>
      <p:bold r:id="rId39"/>
    </p:embeddedFont>
    <p:embeddedFont>
      <p:font typeface="The Seasons" pitchFamily="2" charset="77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48" autoAdjust="0"/>
  </p:normalViewPr>
  <p:slideViewPr>
    <p:cSldViewPr>
      <p:cViewPr varScale="1">
        <p:scale>
          <a:sx n="78" d="100"/>
          <a:sy n="78" d="100"/>
        </p:scale>
        <p:origin x="264" y="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slide" Target="slides/slide20.xml"/><Relationship Id="rId34" Type="http://schemas.openxmlformats.org/officeDocument/2006/relationships/font" Target="fonts/font13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edloadofcode.com/blog/how-to-scrape-and-analyse-your-chess-com-data" TargetMode="External"/><Relationship Id="rId2" Type="http://schemas.openxmlformats.org/officeDocument/2006/relationships/hyperlink" Target="https://medium.com/@stanleytan_4595/getting-chess-com-game-data-with-postman-use-python-and-analyze-48891a502483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111/j.0956-7976.2004.00699.x" TargetMode="External"/><Relationship Id="rId4" Type="http://schemas.openxmlformats.org/officeDocument/2006/relationships/hyperlink" Target="https://www.chess.com/news/view/published-data-ap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25139" y="0"/>
            <a:ext cx="10962861" cy="998883"/>
            <a:chOff x="0" y="0"/>
            <a:chExt cx="2887338" cy="263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7338" cy="263080"/>
            </a:xfrm>
            <a:custGeom>
              <a:avLst/>
              <a:gdLst/>
              <a:ahLst/>
              <a:cxnLst/>
              <a:rect l="l" t="t" r="r" b="b"/>
              <a:pathLst>
                <a:path w="2887338" h="263080">
                  <a:moveTo>
                    <a:pt x="0" y="0"/>
                  </a:moveTo>
                  <a:lnTo>
                    <a:pt x="2887338" y="0"/>
                  </a:lnTo>
                  <a:lnTo>
                    <a:pt x="2887338" y="263080"/>
                  </a:lnTo>
                  <a:lnTo>
                    <a:pt x="0" y="263080"/>
                  </a:lnTo>
                  <a:close/>
                </a:path>
              </a:pathLst>
            </a:custGeom>
            <a:solidFill>
              <a:srgbClr val="FFFDFD"/>
            </a:solidFill>
          </p:spPr>
          <p:txBody>
            <a:bodyPr/>
            <a:lstStyle/>
            <a:p>
              <a:endParaRPr lang="en-JP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87338" cy="301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25139" y="9470335"/>
            <a:ext cx="10962861" cy="998883"/>
            <a:chOff x="0" y="0"/>
            <a:chExt cx="2887338" cy="2630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87338" cy="263080"/>
            </a:xfrm>
            <a:custGeom>
              <a:avLst/>
              <a:gdLst/>
              <a:ahLst/>
              <a:cxnLst/>
              <a:rect l="l" t="t" r="r" b="b"/>
              <a:pathLst>
                <a:path w="2887338" h="263080">
                  <a:moveTo>
                    <a:pt x="0" y="0"/>
                  </a:moveTo>
                  <a:lnTo>
                    <a:pt x="2887338" y="0"/>
                  </a:lnTo>
                  <a:lnTo>
                    <a:pt x="2887338" y="263080"/>
                  </a:lnTo>
                  <a:lnTo>
                    <a:pt x="0" y="263080"/>
                  </a:lnTo>
                  <a:close/>
                </a:path>
              </a:pathLst>
            </a:custGeom>
            <a:solidFill>
              <a:srgbClr val="FFFDFD"/>
            </a:solidFill>
          </p:spPr>
          <p:txBody>
            <a:bodyPr/>
            <a:lstStyle/>
            <a:p>
              <a:endParaRPr lang="en-JP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87338" cy="301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372146" y="1244997"/>
            <a:ext cx="1800195" cy="1453477"/>
            <a:chOff x="0" y="0"/>
            <a:chExt cx="6350000" cy="51269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800767" y="1244997"/>
            <a:ext cx="1800195" cy="1453477"/>
            <a:chOff x="0" y="0"/>
            <a:chExt cx="6350000" cy="51269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229388" y="1244997"/>
            <a:ext cx="1800195" cy="1453477"/>
            <a:chOff x="0" y="0"/>
            <a:chExt cx="6350000" cy="51269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671250" y="2892610"/>
            <a:ext cx="10926207" cy="1642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sz="96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CHESS API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93763" y="5439595"/>
            <a:ext cx="9025614" cy="47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9"/>
              </a:lnSpc>
            </a:pPr>
            <a:r>
              <a:rPr lang="en-US" sz="2708" spc="8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GROUP MEMBERS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3763" y="6371529"/>
            <a:ext cx="8647714" cy="173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23229574-Rahim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23229565-Minh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22229598-Nilasi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8293763" y="8086853"/>
            <a:ext cx="3383007" cy="924268"/>
            <a:chOff x="0" y="0"/>
            <a:chExt cx="5688834" cy="15542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88834" cy="1554240"/>
            </a:xfrm>
            <a:custGeom>
              <a:avLst/>
              <a:gdLst/>
              <a:ahLst/>
              <a:cxnLst/>
              <a:rect l="l" t="t" r="r" b="b"/>
              <a:pathLst>
                <a:path w="5688834" h="1554240">
                  <a:moveTo>
                    <a:pt x="0" y="0"/>
                  </a:moveTo>
                  <a:lnTo>
                    <a:pt x="0" y="1554240"/>
                  </a:lnTo>
                  <a:lnTo>
                    <a:pt x="5688834" y="1554240"/>
                  </a:lnTo>
                  <a:lnTo>
                    <a:pt x="5688834" y="0"/>
                  </a:lnTo>
                  <a:lnTo>
                    <a:pt x="0" y="0"/>
                  </a:lnTo>
                  <a:close/>
                  <a:moveTo>
                    <a:pt x="5627874" y="1493280"/>
                  </a:moveTo>
                  <a:lnTo>
                    <a:pt x="59690" y="1493280"/>
                  </a:lnTo>
                  <a:lnTo>
                    <a:pt x="59690" y="59690"/>
                  </a:lnTo>
                  <a:lnTo>
                    <a:pt x="5627874" y="59690"/>
                  </a:lnTo>
                  <a:lnTo>
                    <a:pt x="5627874" y="1493280"/>
                  </a:lnTo>
                  <a:close/>
                </a:path>
              </a:pathLst>
            </a:custGeom>
            <a:solidFill>
              <a:srgbClr val="FFFDFD"/>
            </a:solidFill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293763" y="8286650"/>
            <a:ext cx="3383007" cy="464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2"/>
              </a:lnSpc>
              <a:spcBef>
                <a:spcPct val="0"/>
              </a:spcBef>
            </a:pPr>
            <a:r>
              <a:rPr lang="en-US" sz="2708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GROUP 14</a:t>
            </a:r>
          </a:p>
        </p:txBody>
      </p:sp>
      <p:sp>
        <p:nvSpPr>
          <p:cNvPr id="20" name="Freeform 20"/>
          <p:cNvSpPr/>
          <p:nvPr/>
        </p:nvSpPr>
        <p:spPr>
          <a:xfrm>
            <a:off x="836646" y="1619503"/>
            <a:ext cx="6834603" cy="6623352"/>
          </a:xfrm>
          <a:custGeom>
            <a:avLst/>
            <a:gdLst/>
            <a:ahLst/>
            <a:cxnLst/>
            <a:rect l="l" t="t" r="r" b="b"/>
            <a:pathLst>
              <a:path w="6834603" h="6623352">
                <a:moveTo>
                  <a:pt x="0" y="0"/>
                </a:moveTo>
                <a:lnTo>
                  <a:pt x="6834604" y="0"/>
                </a:lnTo>
                <a:lnTo>
                  <a:pt x="6834604" y="6623352"/>
                </a:lnTo>
                <a:lnTo>
                  <a:pt x="0" y="6623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21" name="Freeform 21"/>
          <p:cNvSpPr/>
          <p:nvPr/>
        </p:nvSpPr>
        <p:spPr>
          <a:xfrm>
            <a:off x="356050" y="7506209"/>
            <a:ext cx="7315200" cy="1161288"/>
          </a:xfrm>
          <a:custGeom>
            <a:avLst/>
            <a:gdLst/>
            <a:ahLst/>
            <a:cxnLst/>
            <a:rect l="l" t="t" r="r" b="b"/>
            <a:pathLst>
              <a:path w="7315200" h="1161288">
                <a:moveTo>
                  <a:pt x="0" y="0"/>
                </a:moveTo>
                <a:lnTo>
                  <a:pt x="7315200" y="0"/>
                </a:lnTo>
                <a:lnTo>
                  <a:pt x="7315200" y="1161288"/>
                </a:lnTo>
                <a:lnTo>
                  <a:pt x="0" y="1161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25139" y="0"/>
            <a:ext cx="10962861" cy="998883"/>
            <a:chOff x="0" y="0"/>
            <a:chExt cx="2887338" cy="263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7338" cy="263080"/>
            </a:xfrm>
            <a:custGeom>
              <a:avLst/>
              <a:gdLst/>
              <a:ahLst/>
              <a:cxnLst/>
              <a:rect l="l" t="t" r="r" b="b"/>
              <a:pathLst>
                <a:path w="2887338" h="263080">
                  <a:moveTo>
                    <a:pt x="0" y="0"/>
                  </a:moveTo>
                  <a:lnTo>
                    <a:pt x="2887338" y="0"/>
                  </a:lnTo>
                  <a:lnTo>
                    <a:pt x="2887338" y="263080"/>
                  </a:lnTo>
                  <a:lnTo>
                    <a:pt x="0" y="263080"/>
                  </a:lnTo>
                  <a:close/>
                </a:path>
              </a:pathLst>
            </a:custGeom>
            <a:solidFill>
              <a:srgbClr val="FFFDFD"/>
            </a:solidFill>
          </p:spPr>
          <p:txBody>
            <a:bodyPr/>
            <a:lstStyle/>
            <a:p>
              <a:endParaRPr lang="en-JP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87338" cy="301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25139" y="9470335"/>
            <a:ext cx="10962861" cy="998883"/>
            <a:chOff x="0" y="0"/>
            <a:chExt cx="2887338" cy="2630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87338" cy="263080"/>
            </a:xfrm>
            <a:custGeom>
              <a:avLst/>
              <a:gdLst/>
              <a:ahLst/>
              <a:cxnLst/>
              <a:rect l="l" t="t" r="r" b="b"/>
              <a:pathLst>
                <a:path w="2887338" h="263080">
                  <a:moveTo>
                    <a:pt x="0" y="0"/>
                  </a:moveTo>
                  <a:lnTo>
                    <a:pt x="2887338" y="0"/>
                  </a:lnTo>
                  <a:lnTo>
                    <a:pt x="2887338" y="263080"/>
                  </a:lnTo>
                  <a:lnTo>
                    <a:pt x="0" y="263080"/>
                  </a:lnTo>
                  <a:close/>
                </a:path>
              </a:pathLst>
            </a:custGeom>
            <a:solidFill>
              <a:srgbClr val="FFFDFD"/>
            </a:solidFill>
          </p:spPr>
          <p:txBody>
            <a:bodyPr/>
            <a:lstStyle/>
            <a:p>
              <a:endParaRPr lang="en-JP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87338" cy="301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56050" y="7506209"/>
            <a:ext cx="7315200" cy="1161288"/>
          </a:xfrm>
          <a:custGeom>
            <a:avLst/>
            <a:gdLst/>
            <a:ahLst/>
            <a:cxnLst/>
            <a:rect l="l" t="t" r="r" b="b"/>
            <a:pathLst>
              <a:path w="7315200" h="1161288">
                <a:moveTo>
                  <a:pt x="0" y="0"/>
                </a:moveTo>
                <a:lnTo>
                  <a:pt x="7315200" y="0"/>
                </a:lnTo>
                <a:lnTo>
                  <a:pt x="7315200" y="1161288"/>
                </a:lnTo>
                <a:lnTo>
                  <a:pt x="0" y="1161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9" name="TextBox 9"/>
          <p:cNvSpPr txBox="1"/>
          <p:nvPr/>
        </p:nvSpPr>
        <p:spPr>
          <a:xfrm>
            <a:off x="7671250" y="1240975"/>
            <a:ext cx="10926207" cy="250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TABLE OF CONTENTS</a:t>
            </a:r>
          </a:p>
          <a:p>
            <a:pPr algn="l">
              <a:lnSpc>
                <a:spcPts val="10080"/>
              </a:lnSpc>
              <a:spcBef>
                <a:spcPct val="0"/>
              </a:spcBef>
            </a:pPr>
            <a:endParaRPr lang="en-US" sz="7200" b="1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489134" y="3271672"/>
            <a:ext cx="8195059" cy="385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245" lvl="1" indent="-398123" algn="l">
              <a:lnSpc>
                <a:spcPts val="5163"/>
              </a:lnSpc>
              <a:buFont typeface="Arial"/>
              <a:buChar char="•"/>
            </a:pPr>
            <a:r>
              <a:rPr lang="en-US" sz="36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</a:p>
          <a:p>
            <a:pPr marL="796245" lvl="1" indent="-398123" algn="l">
              <a:lnSpc>
                <a:spcPts val="5163"/>
              </a:lnSpc>
              <a:buFont typeface="Arial"/>
              <a:buChar char="•"/>
            </a:pPr>
            <a:r>
              <a:rPr lang="en-US" sz="36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RESEARCH QUESTION 1</a:t>
            </a:r>
          </a:p>
          <a:p>
            <a:pPr marL="796245" lvl="1" indent="-398123" algn="l">
              <a:lnSpc>
                <a:spcPts val="5163"/>
              </a:lnSpc>
              <a:buFont typeface="Arial"/>
              <a:buChar char="•"/>
            </a:pPr>
            <a:r>
              <a:rPr lang="en-US" sz="36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RESEACH QUESTION 2</a:t>
            </a:r>
          </a:p>
          <a:p>
            <a:pPr marL="796245" lvl="1" indent="-398123" algn="l">
              <a:lnSpc>
                <a:spcPts val="5163"/>
              </a:lnSpc>
              <a:buFont typeface="Arial"/>
              <a:buChar char="•"/>
            </a:pPr>
            <a:r>
              <a:rPr lang="en-US" sz="36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</a:p>
          <a:p>
            <a:pPr marL="796245" lvl="1" indent="-398123" algn="l">
              <a:lnSpc>
                <a:spcPts val="5163"/>
              </a:lnSpc>
              <a:buFont typeface="Arial"/>
              <a:buChar char="•"/>
            </a:pPr>
            <a:r>
              <a:rPr lang="en-US" sz="36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REFERNCES</a:t>
            </a:r>
          </a:p>
          <a:p>
            <a:pPr algn="l">
              <a:lnSpc>
                <a:spcPts val="5163"/>
              </a:lnSpc>
              <a:spcBef>
                <a:spcPct val="0"/>
              </a:spcBef>
            </a:pPr>
            <a:endParaRPr lang="en-US" sz="3688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3355475" y="7804823"/>
            <a:ext cx="1800195" cy="1453477"/>
            <a:chOff x="0" y="0"/>
            <a:chExt cx="6350000" cy="51269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84095" y="7804823"/>
            <a:ext cx="1800195" cy="1453477"/>
            <a:chOff x="0" y="0"/>
            <a:chExt cx="6350000" cy="51269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212716" y="7804823"/>
            <a:ext cx="1800195" cy="1453477"/>
            <a:chOff x="0" y="0"/>
            <a:chExt cx="6350000" cy="51269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17" name="Freeform 17"/>
          <p:cNvSpPr/>
          <p:nvPr/>
        </p:nvSpPr>
        <p:spPr>
          <a:xfrm>
            <a:off x="-3481446" y="0"/>
            <a:ext cx="10806585" cy="10287000"/>
          </a:xfrm>
          <a:custGeom>
            <a:avLst/>
            <a:gdLst/>
            <a:ahLst/>
            <a:cxnLst/>
            <a:rect l="l" t="t" r="r" b="b"/>
            <a:pathLst>
              <a:path w="10806585" h="10287000">
                <a:moveTo>
                  <a:pt x="0" y="0"/>
                </a:moveTo>
                <a:lnTo>
                  <a:pt x="10806585" y="0"/>
                </a:lnTo>
                <a:lnTo>
                  <a:pt x="108065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2877"/>
            </a:stretch>
          </a:blipFill>
        </p:spPr>
        <p:txBody>
          <a:bodyPr/>
          <a:lstStyle/>
          <a:p>
            <a:endParaRPr lang="en-J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2448" y="-501786"/>
            <a:ext cx="20072127" cy="11290571"/>
          </a:xfrm>
          <a:custGeom>
            <a:avLst/>
            <a:gdLst/>
            <a:ahLst/>
            <a:cxnLst/>
            <a:rect l="l" t="t" r="r" b="b"/>
            <a:pathLst>
              <a:path w="20072127" h="11290571">
                <a:moveTo>
                  <a:pt x="0" y="0"/>
                </a:moveTo>
                <a:lnTo>
                  <a:pt x="20072127" y="0"/>
                </a:lnTo>
                <a:lnTo>
                  <a:pt x="20072127" y="11290572"/>
                </a:lnTo>
                <a:lnTo>
                  <a:pt x="0" y="1129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8888" b="-38888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3" name="TextBox 3"/>
          <p:cNvSpPr txBox="1"/>
          <p:nvPr/>
        </p:nvSpPr>
        <p:spPr>
          <a:xfrm>
            <a:off x="686207" y="1298372"/>
            <a:ext cx="17387373" cy="4728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68455" lvl="1" indent="-484227" algn="l">
              <a:lnSpc>
                <a:spcPts val="6279"/>
              </a:lnSpc>
              <a:buFont typeface="Arial"/>
              <a:buChar char="•"/>
            </a:pPr>
            <a:r>
              <a:rPr lang="en-US" sz="448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Chess.com is one of the largest online chess platforms in the world, offering players the ability to play games, solve puzzles, take lessons, and follow tournaments.</a:t>
            </a:r>
          </a:p>
          <a:p>
            <a:pPr algn="l">
              <a:lnSpc>
                <a:spcPts val="6279"/>
              </a:lnSpc>
            </a:pPr>
            <a:endParaRPr lang="en-US" sz="448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68455" lvl="1" indent="-484227" algn="l">
              <a:lnSpc>
                <a:spcPts val="6279"/>
              </a:lnSpc>
              <a:buFont typeface="Arial"/>
              <a:buChar char="•"/>
            </a:pPr>
            <a:r>
              <a:rPr lang="en-US" sz="448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Game Modes: players can choose from several time-control categories that significantly affect the pace and style of play: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55384" y="6193939"/>
            <a:ext cx="8000265" cy="2369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  <a:spcBef>
                <a:spcPct val="0"/>
              </a:spcBef>
            </a:pPr>
            <a:r>
              <a:rPr lang="en-US" sz="2693" spc="2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BULLET: VERY FAST GAMES.(3 MIN)</a:t>
            </a:r>
          </a:p>
          <a:p>
            <a:pPr algn="l">
              <a:lnSpc>
                <a:spcPts val="3770"/>
              </a:lnSpc>
              <a:spcBef>
                <a:spcPct val="0"/>
              </a:spcBef>
            </a:pPr>
            <a:r>
              <a:rPr lang="en-US" sz="2693" spc="2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BLITZ: FAST GAMES(3-5MIN)</a:t>
            </a:r>
          </a:p>
          <a:p>
            <a:pPr algn="l">
              <a:lnSpc>
                <a:spcPts val="3770"/>
              </a:lnSpc>
              <a:spcBef>
                <a:spcPct val="0"/>
              </a:spcBef>
            </a:pPr>
            <a:r>
              <a:rPr lang="en-US" sz="2693" spc="2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RAPID: MORE TIME PER PLAYER(10+ MIN)</a:t>
            </a:r>
          </a:p>
          <a:p>
            <a:pPr algn="l">
              <a:lnSpc>
                <a:spcPts val="3770"/>
              </a:lnSpc>
              <a:spcBef>
                <a:spcPct val="0"/>
              </a:spcBef>
            </a:pPr>
            <a:r>
              <a:rPr lang="en-US" sz="2693" spc="2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DAILY: MUCH SLOWER (HOURS OR DAYS)</a:t>
            </a:r>
          </a:p>
          <a:p>
            <a:pPr algn="l">
              <a:lnSpc>
                <a:spcPts val="3770"/>
              </a:lnSpc>
              <a:spcBef>
                <a:spcPct val="0"/>
              </a:spcBef>
            </a:pPr>
            <a:endParaRPr lang="en-US" sz="2693" spc="269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0062" y="340643"/>
            <a:ext cx="997277" cy="997277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30062" y="5358510"/>
            <a:ext cx="17551932" cy="246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H₀ (Null Hypothesis): </a:t>
            </a: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effect of playing White on win probability does not vary by time control.</a:t>
            </a:r>
          </a:p>
          <a:p>
            <a:pPr algn="l">
              <a:lnSpc>
                <a:spcPts val="3920"/>
              </a:lnSpc>
            </a:pPr>
            <a:endParaRPr lang="en-US" sz="2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H₁ (Alternative Hypothesis): </a:t>
            </a: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advantage of playing White differs depending on the time control (e.g., bigger in rapid/classical, smaller in blitz/bullet).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endParaRPr lang="en-US" sz="2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17743" y="331118"/>
            <a:ext cx="16701410" cy="3462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2"/>
              </a:lnSpc>
            </a:pPr>
            <a:r>
              <a:rPr lang="en-US" sz="56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HOW DOES  PLAYING WHITE VERSUS BLACK EFFECT THE PROBABILITY OF WINNING ACROSS DIFFERENT CHESS TIME CONTROLS (BULLET, BLITZ, RAPID, DAILY)?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0062" y="573501"/>
            <a:ext cx="997277" cy="463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7"/>
              </a:lnSpc>
              <a:spcBef>
                <a:spcPct val="0"/>
              </a:spcBef>
            </a:pPr>
            <a:r>
              <a:rPr lang="en-US" sz="275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7" name="Freeform 7"/>
          <p:cNvSpPr/>
          <p:nvPr/>
        </p:nvSpPr>
        <p:spPr>
          <a:xfrm rot="1612909">
            <a:off x="-1835648" y="-1361533"/>
            <a:ext cx="6725972" cy="6725972"/>
          </a:xfrm>
          <a:custGeom>
            <a:avLst/>
            <a:gdLst/>
            <a:ahLst/>
            <a:cxnLst/>
            <a:rect l="l" t="t" r="r" b="b"/>
            <a:pathLst>
              <a:path w="6725972" h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grpSp>
        <p:nvGrpSpPr>
          <p:cNvPr id="8" name="Group 8"/>
          <p:cNvGrpSpPr/>
          <p:nvPr/>
        </p:nvGrpSpPr>
        <p:grpSpPr>
          <a:xfrm>
            <a:off x="13374525" y="7804823"/>
            <a:ext cx="1800195" cy="1453477"/>
            <a:chOff x="0" y="0"/>
            <a:chExt cx="6350000" cy="51269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803145" y="7804823"/>
            <a:ext cx="1800195" cy="1453477"/>
            <a:chOff x="0" y="0"/>
            <a:chExt cx="6350000" cy="51269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231766" y="7804823"/>
            <a:ext cx="1800195" cy="1453477"/>
            <a:chOff x="0" y="0"/>
            <a:chExt cx="6350000" cy="51269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0062" y="323991"/>
            <a:ext cx="16701410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IMPORTS - GETTING THE DATA</a:t>
            </a:r>
          </a:p>
          <a:p>
            <a:pPr algn="l">
              <a:lnSpc>
                <a:spcPts val="7930"/>
              </a:lnSpc>
            </a:pPr>
            <a:endParaRPr lang="en-US" sz="6500" b="1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58226" y="1919295"/>
            <a:ext cx="4294188" cy="944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Libraries Used: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06876" y="5735192"/>
            <a:ext cx="3396889" cy="944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Short code </a:t>
            </a:r>
          </a:p>
        </p:txBody>
      </p:sp>
      <p:sp>
        <p:nvSpPr>
          <p:cNvPr id="5" name="Freeform 5"/>
          <p:cNvSpPr/>
          <p:nvPr/>
        </p:nvSpPr>
        <p:spPr>
          <a:xfrm rot="1612909">
            <a:off x="-2086589" y="-1599637"/>
            <a:ext cx="6725972" cy="6725972"/>
          </a:xfrm>
          <a:custGeom>
            <a:avLst/>
            <a:gdLst/>
            <a:ahLst/>
            <a:cxnLst/>
            <a:rect l="l" t="t" r="r" b="b"/>
            <a:pathLst>
              <a:path w="6725972" h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grpSp>
        <p:nvGrpSpPr>
          <p:cNvPr id="6" name="Group 6"/>
          <p:cNvGrpSpPr/>
          <p:nvPr/>
        </p:nvGrpSpPr>
        <p:grpSpPr>
          <a:xfrm>
            <a:off x="13538203" y="8639405"/>
            <a:ext cx="1800195" cy="1453477"/>
            <a:chOff x="0" y="0"/>
            <a:chExt cx="6350000" cy="51269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816923" y="8639405"/>
            <a:ext cx="1800195" cy="1453477"/>
            <a:chOff x="0" y="0"/>
            <a:chExt cx="6350000" cy="51269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245544" y="8639405"/>
            <a:ext cx="1800195" cy="1453477"/>
            <a:chOff x="0" y="0"/>
            <a:chExt cx="6350000" cy="51269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12" name="Freeform 12"/>
          <p:cNvSpPr/>
          <p:nvPr/>
        </p:nvSpPr>
        <p:spPr>
          <a:xfrm>
            <a:off x="9272928" y="6921643"/>
            <a:ext cx="9015072" cy="2155519"/>
          </a:xfrm>
          <a:custGeom>
            <a:avLst/>
            <a:gdLst/>
            <a:ahLst/>
            <a:cxnLst/>
            <a:rect l="l" t="t" r="r" b="b"/>
            <a:pathLst>
              <a:path w="9015072" h="2155519">
                <a:moveTo>
                  <a:pt x="0" y="0"/>
                </a:moveTo>
                <a:lnTo>
                  <a:pt x="9015072" y="0"/>
                </a:lnTo>
                <a:lnTo>
                  <a:pt x="9015072" y="2155519"/>
                </a:lnTo>
                <a:lnTo>
                  <a:pt x="0" y="21555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13" name="Freeform 13"/>
          <p:cNvSpPr/>
          <p:nvPr/>
        </p:nvSpPr>
        <p:spPr>
          <a:xfrm>
            <a:off x="696707" y="2980769"/>
            <a:ext cx="14501218" cy="2374574"/>
          </a:xfrm>
          <a:custGeom>
            <a:avLst/>
            <a:gdLst/>
            <a:ahLst/>
            <a:cxnLst/>
            <a:rect l="l" t="t" r="r" b="b"/>
            <a:pathLst>
              <a:path w="14501218" h="2374574">
                <a:moveTo>
                  <a:pt x="0" y="0"/>
                </a:moveTo>
                <a:lnTo>
                  <a:pt x="14501219" y="0"/>
                </a:lnTo>
                <a:lnTo>
                  <a:pt x="14501219" y="2374575"/>
                </a:lnTo>
                <a:lnTo>
                  <a:pt x="0" y="2374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14" name="TextBox 14"/>
          <p:cNvSpPr txBox="1"/>
          <p:nvPr/>
        </p:nvSpPr>
        <p:spPr>
          <a:xfrm>
            <a:off x="11319621" y="5320173"/>
            <a:ext cx="4578152" cy="944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Pulling the Data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-378623" y="6717519"/>
            <a:ext cx="9522623" cy="319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HEADERS = {"User-Agent":"MyChessApp/1.0"} → “Identifies our app to the API.”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get_player_archives(username) → “Gets monthly archive URLs for that user.”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fetch_games_from_archive(url) → “Downloads that month’s games and returns structured records.”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df["win"] = np.where(df["result"] == "win", 1, 0) → “Creates a binary win column: 1 = win, 0 = else.”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df["color"] = np.where(df["color"]=="white", 1, 0) → “Encodes color numerically for analysis.”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The Seasons"/>
              <a:ea typeface="The Seasons"/>
              <a:cs typeface="The Seasons"/>
              <a:sym typeface="The Seaso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0062" y="323991"/>
            <a:ext cx="16701410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RINSE AND REPEAT:</a:t>
            </a:r>
          </a:p>
          <a:p>
            <a:pPr algn="l">
              <a:lnSpc>
                <a:spcPts val="7930"/>
              </a:lnSpc>
            </a:pPr>
            <a:endParaRPr lang="en-US" sz="6500" b="1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3" name="Freeform 3"/>
          <p:cNvSpPr/>
          <p:nvPr/>
        </p:nvSpPr>
        <p:spPr>
          <a:xfrm rot="1612909">
            <a:off x="-1545243" y="-1289660"/>
            <a:ext cx="6725972" cy="6725972"/>
          </a:xfrm>
          <a:custGeom>
            <a:avLst/>
            <a:gdLst/>
            <a:ahLst/>
            <a:cxnLst/>
            <a:rect l="l" t="t" r="r" b="b"/>
            <a:pathLst>
              <a:path w="6725972" h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4" name="Freeform 4"/>
          <p:cNvSpPr/>
          <p:nvPr/>
        </p:nvSpPr>
        <p:spPr>
          <a:xfrm>
            <a:off x="530062" y="2326781"/>
            <a:ext cx="8548300" cy="5118176"/>
          </a:xfrm>
          <a:custGeom>
            <a:avLst/>
            <a:gdLst/>
            <a:ahLst/>
            <a:cxnLst/>
            <a:rect l="l" t="t" r="r" b="b"/>
            <a:pathLst>
              <a:path w="8548300" h="5118176">
                <a:moveTo>
                  <a:pt x="0" y="0"/>
                </a:moveTo>
                <a:lnTo>
                  <a:pt x="8548300" y="0"/>
                </a:lnTo>
                <a:lnTo>
                  <a:pt x="8548300" y="5118176"/>
                </a:lnTo>
                <a:lnTo>
                  <a:pt x="0" y="5118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74" r="-1174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5" name="Freeform 5"/>
          <p:cNvSpPr/>
          <p:nvPr/>
        </p:nvSpPr>
        <p:spPr>
          <a:xfrm>
            <a:off x="9963700" y="2326781"/>
            <a:ext cx="7843561" cy="3657060"/>
          </a:xfrm>
          <a:custGeom>
            <a:avLst/>
            <a:gdLst/>
            <a:ahLst/>
            <a:cxnLst/>
            <a:rect l="l" t="t" r="r" b="b"/>
            <a:pathLst>
              <a:path w="7843561" h="3657060">
                <a:moveTo>
                  <a:pt x="0" y="0"/>
                </a:moveTo>
                <a:lnTo>
                  <a:pt x="7843562" y="0"/>
                </a:lnTo>
                <a:lnTo>
                  <a:pt x="7843562" y="3657061"/>
                </a:lnTo>
                <a:lnTo>
                  <a:pt x="0" y="36570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6" name="TextBox 6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374525" y="7804823"/>
            <a:ext cx="1800195" cy="1453477"/>
            <a:chOff x="0" y="0"/>
            <a:chExt cx="6350000" cy="51269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803145" y="7804823"/>
            <a:ext cx="1800195" cy="1453477"/>
            <a:chOff x="0" y="0"/>
            <a:chExt cx="6350000" cy="51269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231766" y="7804823"/>
            <a:ext cx="1800195" cy="1453477"/>
            <a:chOff x="0" y="0"/>
            <a:chExt cx="6350000" cy="51269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0062" y="323991"/>
            <a:ext cx="16701410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BUILDING AND CLEANING THE DATA:</a:t>
            </a:r>
          </a:p>
          <a:p>
            <a:pPr algn="l">
              <a:lnSpc>
                <a:spcPts val="7930"/>
              </a:lnSpc>
            </a:pPr>
            <a:endParaRPr lang="en-US" sz="6500" b="1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id="4" name="Freeform 4"/>
          <p:cNvSpPr/>
          <p:nvPr/>
        </p:nvSpPr>
        <p:spPr>
          <a:xfrm>
            <a:off x="390510" y="2863540"/>
            <a:ext cx="11040788" cy="1962807"/>
          </a:xfrm>
          <a:custGeom>
            <a:avLst/>
            <a:gdLst/>
            <a:ahLst/>
            <a:cxnLst/>
            <a:rect l="l" t="t" r="r" b="b"/>
            <a:pathLst>
              <a:path w="11040788" h="1962807">
                <a:moveTo>
                  <a:pt x="0" y="0"/>
                </a:moveTo>
                <a:lnTo>
                  <a:pt x="11040789" y="0"/>
                </a:lnTo>
                <a:lnTo>
                  <a:pt x="11040789" y="1962807"/>
                </a:lnTo>
                <a:lnTo>
                  <a:pt x="0" y="1962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5" name="Freeform 5"/>
          <p:cNvSpPr/>
          <p:nvPr/>
        </p:nvSpPr>
        <p:spPr>
          <a:xfrm>
            <a:off x="390510" y="5178229"/>
            <a:ext cx="7241243" cy="4389653"/>
          </a:xfrm>
          <a:custGeom>
            <a:avLst/>
            <a:gdLst/>
            <a:ahLst/>
            <a:cxnLst/>
            <a:rect l="l" t="t" r="r" b="b"/>
            <a:pathLst>
              <a:path w="7241243" h="4389653">
                <a:moveTo>
                  <a:pt x="0" y="0"/>
                </a:moveTo>
                <a:lnTo>
                  <a:pt x="7241243" y="0"/>
                </a:lnTo>
                <a:lnTo>
                  <a:pt x="7241243" y="4389653"/>
                </a:lnTo>
                <a:lnTo>
                  <a:pt x="0" y="43896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6" name="TextBox 6"/>
          <p:cNvSpPr txBox="1"/>
          <p:nvPr/>
        </p:nvSpPr>
        <p:spPr>
          <a:xfrm>
            <a:off x="530062" y="1541686"/>
            <a:ext cx="3695700" cy="944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Old vs Clean</a:t>
            </a:r>
          </a:p>
        </p:txBody>
      </p:sp>
      <p:sp>
        <p:nvSpPr>
          <p:cNvPr id="7" name="Freeform 7"/>
          <p:cNvSpPr/>
          <p:nvPr/>
        </p:nvSpPr>
        <p:spPr>
          <a:xfrm rot="1612909">
            <a:off x="-1545243" y="-1289660"/>
            <a:ext cx="6725972" cy="6725972"/>
          </a:xfrm>
          <a:custGeom>
            <a:avLst/>
            <a:gdLst/>
            <a:ahLst/>
            <a:cxnLst/>
            <a:rect l="l" t="t" r="r" b="b"/>
            <a:pathLst>
              <a:path w="6725972" h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grpSp>
        <p:nvGrpSpPr>
          <p:cNvPr id="8" name="Group 8"/>
          <p:cNvGrpSpPr/>
          <p:nvPr/>
        </p:nvGrpSpPr>
        <p:grpSpPr>
          <a:xfrm>
            <a:off x="13355475" y="7804823"/>
            <a:ext cx="1800195" cy="1453477"/>
            <a:chOff x="0" y="0"/>
            <a:chExt cx="6350000" cy="51269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784095" y="7804823"/>
            <a:ext cx="1800195" cy="1453477"/>
            <a:chOff x="0" y="0"/>
            <a:chExt cx="6350000" cy="51269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212716" y="7804823"/>
            <a:ext cx="1800195" cy="1453477"/>
            <a:chOff x="0" y="0"/>
            <a:chExt cx="6350000" cy="51269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14" name="Freeform 14"/>
          <p:cNvSpPr/>
          <p:nvPr/>
        </p:nvSpPr>
        <p:spPr>
          <a:xfrm>
            <a:off x="8146556" y="9415780"/>
            <a:ext cx="9112744" cy="547641"/>
          </a:xfrm>
          <a:custGeom>
            <a:avLst/>
            <a:gdLst/>
            <a:ahLst/>
            <a:cxnLst/>
            <a:rect l="l" t="t" r="r" b="b"/>
            <a:pathLst>
              <a:path w="9112744" h="547641">
                <a:moveTo>
                  <a:pt x="0" y="0"/>
                </a:moveTo>
                <a:lnTo>
                  <a:pt x="9112744" y="0"/>
                </a:lnTo>
                <a:lnTo>
                  <a:pt x="9112744" y="547641"/>
                </a:lnTo>
                <a:lnTo>
                  <a:pt x="0" y="5476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11208" y="-804178"/>
            <a:ext cx="20072127" cy="11290571"/>
          </a:xfrm>
          <a:custGeom>
            <a:avLst/>
            <a:gdLst/>
            <a:ahLst/>
            <a:cxnLst/>
            <a:rect l="l" t="t" r="r" b="b"/>
            <a:pathLst>
              <a:path w="20072127" h="11290571">
                <a:moveTo>
                  <a:pt x="0" y="0"/>
                </a:moveTo>
                <a:lnTo>
                  <a:pt x="20072127" y="0"/>
                </a:lnTo>
                <a:lnTo>
                  <a:pt x="20072127" y="11290572"/>
                </a:lnTo>
                <a:lnTo>
                  <a:pt x="0" y="1129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8888" b="-38888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3" name="Freeform 3"/>
          <p:cNvSpPr/>
          <p:nvPr/>
        </p:nvSpPr>
        <p:spPr>
          <a:xfrm>
            <a:off x="671541" y="2703868"/>
            <a:ext cx="8653314" cy="5840987"/>
          </a:xfrm>
          <a:custGeom>
            <a:avLst/>
            <a:gdLst/>
            <a:ahLst/>
            <a:cxnLst/>
            <a:rect l="l" t="t" r="r" b="b"/>
            <a:pathLst>
              <a:path w="8653314" h="5840987">
                <a:moveTo>
                  <a:pt x="0" y="0"/>
                </a:moveTo>
                <a:lnTo>
                  <a:pt x="8653315" y="0"/>
                </a:lnTo>
                <a:lnTo>
                  <a:pt x="8653315" y="5840987"/>
                </a:lnTo>
                <a:lnTo>
                  <a:pt x="0" y="5840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4" name="Freeform 4"/>
          <p:cNvSpPr/>
          <p:nvPr/>
        </p:nvSpPr>
        <p:spPr>
          <a:xfrm>
            <a:off x="9540066" y="3618260"/>
            <a:ext cx="8963144" cy="2445696"/>
          </a:xfrm>
          <a:custGeom>
            <a:avLst/>
            <a:gdLst/>
            <a:ahLst/>
            <a:cxnLst/>
            <a:rect l="l" t="t" r="r" b="b"/>
            <a:pathLst>
              <a:path w="8963144" h="2445696">
                <a:moveTo>
                  <a:pt x="0" y="0"/>
                </a:moveTo>
                <a:lnTo>
                  <a:pt x="8963145" y="0"/>
                </a:lnTo>
                <a:lnTo>
                  <a:pt x="8963145" y="2445696"/>
                </a:lnTo>
                <a:lnTo>
                  <a:pt x="0" y="24456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5" name="TextBox 5"/>
          <p:cNvSpPr txBox="1"/>
          <p:nvPr/>
        </p:nvSpPr>
        <p:spPr>
          <a:xfrm>
            <a:off x="530062" y="323991"/>
            <a:ext cx="16701410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WIN RATES</a:t>
            </a:r>
          </a:p>
          <a:p>
            <a:pPr algn="l">
              <a:lnSpc>
                <a:spcPts val="7930"/>
              </a:lnSpc>
            </a:pPr>
            <a:endParaRPr lang="en-US" sz="6500" b="1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91579" y="1616096"/>
            <a:ext cx="4387354" cy="944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White Vs Black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11208" y="-804178"/>
            <a:ext cx="20072127" cy="11290571"/>
          </a:xfrm>
          <a:custGeom>
            <a:avLst/>
            <a:gdLst/>
            <a:ahLst/>
            <a:cxnLst/>
            <a:rect l="l" t="t" r="r" b="b"/>
            <a:pathLst>
              <a:path w="20072127" h="11290571">
                <a:moveTo>
                  <a:pt x="0" y="0"/>
                </a:moveTo>
                <a:lnTo>
                  <a:pt x="20072127" y="0"/>
                </a:lnTo>
                <a:lnTo>
                  <a:pt x="20072127" y="11290572"/>
                </a:lnTo>
                <a:lnTo>
                  <a:pt x="0" y="1129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8888" b="-38888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3" name="Freeform 3"/>
          <p:cNvSpPr/>
          <p:nvPr/>
        </p:nvSpPr>
        <p:spPr>
          <a:xfrm>
            <a:off x="5660636" y="2606555"/>
            <a:ext cx="7827571" cy="5997876"/>
          </a:xfrm>
          <a:custGeom>
            <a:avLst/>
            <a:gdLst/>
            <a:ahLst/>
            <a:cxnLst/>
            <a:rect l="l" t="t" r="r" b="b"/>
            <a:pathLst>
              <a:path w="7827571" h="5997876">
                <a:moveTo>
                  <a:pt x="0" y="0"/>
                </a:moveTo>
                <a:lnTo>
                  <a:pt x="7827570" y="0"/>
                </a:lnTo>
                <a:lnTo>
                  <a:pt x="7827570" y="5997876"/>
                </a:lnTo>
                <a:lnTo>
                  <a:pt x="0" y="5997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4" name="TextBox 4"/>
          <p:cNvSpPr txBox="1"/>
          <p:nvPr/>
        </p:nvSpPr>
        <p:spPr>
          <a:xfrm>
            <a:off x="530062" y="323991"/>
            <a:ext cx="16701410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WIN RATES</a:t>
            </a:r>
          </a:p>
          <a:p>
            <a:pPr algn="l">
              <a:lnSpc>
                <a:spcPts val="7930"/>
              </a:lnSpc>
            </a:pPr>
            <a:endParaRPr lang="en-US" sz="6500" b="1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11208" y="-804178"/>
            <a:ext cx="20072127" cy="11290571"/>
          </a:xfrm>
          <a:custGeom>
            <a:avLst/>
            <a:gdLst/>
            <a:ahLst/>
            <a:cxnLst/>
            <a:rect l="l" t="t" r="r" b="b"/>
            <a:pathLst>
              <a:path w="20072127" h="11290571">
                <a:moveTo>
                  <a:pt x="0" y="0"/>
                </a:moveTo>
                <a:lnTo>
                  <a:pt x="20072127" y="0"/>
                </a:lnTo>
                <a:lnTo>
                  <a:pt x="20072127" y="11290572"/>
                </a:lnTo>
                <a:lnTo>
                  <a:pt x="0" y="1129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8888" b="-38888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3" name="Freeform 3"/>
          <p:cNvSpPr/>
          <p:nvPr/>
        </p:nvSpPr>
        <p:spPr>
          <a:xfrm>
            <a:off x="4090329" y="1718021"/>
            <a:ext cx="10107343" cy="2848044"/>
          </a:xfrm>
          <a:custGeom>
            <a:avLst/>
            <a:gdLst/>
            <a:ahLst/>
            <a:cxnLst/>
            <a:rect l="l" t="t" r="r" b="b"/>
            <a:pathLst>
              <a:path w="10107343" h="2848044">
                <a:moveTo>
                  <a:pt x="0" y="0"/>
                </a:moveTo>
                <a:lnTo>
                  <a:pt x="10107342" y="0"/>
                </a:lnTo>
                <a:lnTo>
                  <a:pt x="10107342" y="2848043"/>
                </a:lnTo>
                <a:lnTo>
                  <a:pt x="0" y="2848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4" name="TextBox 4"/>
          <p:cNvSpPr txBox="1"/>
          <p:nvPr/>
        </p:nvSpPr>
        <p:spPr>
          <a:xfrm>
            <a:off x="13671125" y="7814909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71125" y="7814909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71125" y="7814909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5331131"/>
            <a:ext cx="18288000" cy="358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Based on the results of the two-proportion Z-test, there is a statistically significant difference between the win rates of White and Black players across most time controls.</a:t>
            </a:r>
          </a:p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all formats — blitz, bullet, rapid, and daily — the p-values were below the 0.05 significance level, leading us to reject the null hypothesis (H₀) that both colors have equal chances of winning.</a:t>
            </a:r>
          </a:p>
          <a:p>
            <a:pPr algn="ctr">
              <a:lnSpc>
                <a:spcPts val="4759"/>
              </a:lnSpc>
            </a:pPr>
            <a:endParaRPr lang="en-US" sz="33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12909">
            <a:off x="-1545243" y="-1289660"/>
            <a:ext cx="6725972" cy="6725972"/>
          </a:xfrm>
          <a:custGeom>
            <a:avLst/>
            <a:gdLst/>
            <a:ahLst/>
            <a:cxnLst/>
            <a:rect l="l" t="t" r="r" b="b"/>
            <a:pathLst>
              <a:path w="6725972" h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grpSp>
        <p:nvGrpSpPr>
          <p:cNvPr id="3" name="Group 3"/>
          <p:cNvGrpSpPr/>
          <p:nvPr/>
        </p:nvGrpSpPr>
        <p:grpSpPr>
          <a:xfrm>
            <a:off x="530062" y="340643"/>
            <a:ext cx="997277" cy="997277"/>
            <a:chOff x="0" y="0"/>
            <a:chExt cx="1913890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30062" y="4247896"/>
            <a:ext cx="17551932" cy="3453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Null Hypothesis: </a:t>
            </a: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There is no correlation in players having different draw rate in Blitz games and in Bullet games</a:t>
            </a:r>
          </a:p>
          <a:p>
            <a:pPr algn="l">
              <a:lnSpc>
                <a:spcPts val="3920"/>
              </a:lnSpc>
            </a:pPr>
            <a:endParaRPr lang="en-US" sz="2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Alternative Hypothesis:</a:t>
            </a: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Players have a higher draw rate in Blitz games than in Bullet games</a:t>
            </a:r>
          </a:p>
          <a:p>
            <a:pPr algn="l">
              <a:lnSpc>
                <a:spcPts val="3920"/>
              </a:lnSpc>
            </a:pPr>
            <a:endParaRPr lang="en-US" sz="2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Alternative Hypothesis: </a:t>
            </a: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Players have a lower draw rate in Blitz games than in Bullet games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endParaRPr lang="en-US" sz="2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17743" y="321593"/>
            <a:ext cx="16701410" cy="300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ARE THERE DIFFERENCES IN DRAW RATES FOR BLITZ AND BULLET GAMES?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0062" y="573501"/>
            <a:ext cx="997277" cy="463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7"/>
              </a:lnSpc>
              <a:spcBef>
                <a:spcPct val="0"/>
              </a:spcBef>
            </a:pPr>
            <a:r>
              <a:rPr lang="en-US" sz="275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355475" y="7804823"/>
            <a:ext cx="1800195" cy="1453477"/>
            <a:chOff x="0" y="0"/>
            <a:chExt cx="6350000" cy="51269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784095" y="7804823"/>
            <a:ext cx="1800195" cy="1453477"/>
            <a:chOff x="0" y="0"/>
            <a:chExt cx="6350000" cy="51269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212716" y="7804823"/>
            <a:ext cx="1800195" cy="1453477"/>
            <a:chOff x="0" y="0"/>
            <a:chExt cx="6350000" cy="51269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0062" y="323991"/>
            <a:ext cx="16701410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IMPORTS - GETTING THE DATA</a:t>
            </a:r>
          </a:p>
          <a:p>
            <a:pPr algn="l">
              <a:lnSpc>
                <a:spcPts val="7930"/>
              </a:lnSpc>
            </a:pPr>
            <a:endParaRPr lang="en-US" sz="6500" b="1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405376" y="2154899"/>
            <a:ext cx="15477248" cy="6719997"/>
          </a:xfrm>
          <a:custGeom>
            <a:avLst/>
            <a:gdLst/>
            <a:ahLst/>
            <a:cxnLst/>
            <a:rect l="l" t="t" r="r" b="b"/>
            <a:pathLst>
              <a:path w="15477248" h="6719997">
                <a:moveTo>
                  <a:pt x="0" y="0"/>
                </a:moveTo>
                <a:lnTo>
                  <a:pt x="15477248" y="0"/>
                </a:lnTo>
                <a:lnTo>
                  <a:pt x="15477248" y="6719997"/>
                </a:lnTo>
                <a:lnTo>
                  <a:pt x="0" y="67199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853" t="-195976" b="-106080"/>
            </a:stretch>
          </a:blipFill>
          <a:ln w="8572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JP"/>
          </a:p>
        </p:txBody>
      </p:sp>
      <p:sp>
        <p:nvSpPr>
          <p:cNvPr id="4" name="TextBox 4"/>
          <p:cNvSpPr txBox="1"/>
          <p:nvPr/>
        </p:nvSpPr>
        <p:spPr>
          <a:xfrm>
            <a:off x="2306166" y="2528053"/>
            <a:ext cx="13675668" cy="6559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5"/>
              </a:lnSpc>
            </a:pPr>
            <a:r>
              <a:rPr lang="en-US" sz="328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leaderboard_keys = ['live_blitz', 'live_bullet', 'da</a:t>
            </a:r>
            <a:r>
              <a:rPr lang="en-US" sz="3284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ily_blitz', 'daily_bullet']</a:t>
            </a:r>
          </a:p>
          <a:p>
            <a:pPr marL="0" lvl="0" indent="0" algn="l">
              <a:lnSpc>
                <a:spcPts val="5255"/>
              </a:lnSpc>
            </a:pPr>
            <a:r>
              <a:rPr lang="en-US" sz="3284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for key in leaderboard_keys:</a:t>
            </a:r>
          </a:p>
          <a:p>
            <a:pPr marL="0" lvl="0" indent="0" algn="l">
              <a:lnSpc>
                <a:spcPts val="5255"/>
              </a:lnSpc>
            </a:pPr>
            <a:r>
              <a:rPr lang="en-US" sz="3284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try:</a:t>
            </a:r>
          </a:p>
          <a:p>
            <a:pPr marL="0" lvl="0" indent="0" algn="l">
              <a:lnSpc>
                <a:spcPts val="5255"/>
              </a:lnSpc>
            </a:pPr>
            <a:r>
              <a:rPr lang="en-US" sz="3284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lb_users = get_leaderboard_users(key)</a:t>
            </a:r>
          </a:p>
          <a:p>
            <a:pPr marL="0" lvl="0" indent="0" algn="l">
              <a:lnSpc>
                <a:spcPts val="5255"/>
              </a:lnSpc>
            </a:pPr>
            <a:r>
              <a:rPr lang="en-US" sz="3284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usernames.update(lb_users)</a:t>
            </a:r>
          </a:p>
          <a:p>
            <a:pPr marL="0" lvl="0" indent="0" algn="l">
              <a:lnSpc>
                <a:spcPts val="5255"/>
              </a:lnSpc>
            </a:pPr>
            <a:r>
              <a:rPr lang="en-US" sz="3284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print(f"Added {len(lb_users)} usernames from leaderboard '{key}'")</a:t>
            </a:r>
          </a:p>
          <a:p>
            <a:pPr marL="0" lvl="0" indent="0" algn="l">
              <a:lnSpc>
                <a:spcPts val="5255"/>
              </a:lnSpc>
            </a:pPr>
            <a:r>
              <a:rPr lang="en-US" sz="3284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except Exception as e:</a:t>
            </a:r>
          </a:p>
          <a:p>
            <a:pPr marL="0" lvl="0" indent="0" algn="l">
              <a:lnSpc>
                <a:spcPts val="5255"/>
              </a:lnSpc>
            </a:pPr>
            <a:r>
              <a:rPr lang="en-US" sz="3284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print(f"Failed to get leaderboard '{key}': {e}")</a:t>
            </a:r>
          </a:p>
          <a:p>
            <a:pPr marL="0" lvl="0" indent="0" algn="l">
              <a:lnSpc>
                <a:spcPts val="5255"/>
              </a:lnSpc>
            </a:pPr>
            <a:r>
              <a:rPr lang="en-US" sz="3284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titles = ['GM', 'IM', 'FM', 'WGM', 'WIM', 'WFM']</a:t>
            </a:r>
          </a:p>
          <a:p>
            <a:pPr marL="0" lvl="0" indent="0" algn="l">
              <a:lnSpc>
                <a:spcPts val="5255"/>
              </a:lnSpc>
            </a:pPr>
            <a:endParaRPr lang="en-US" sz="3284" u="none" strike="noStrike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3355475" y="8211277"/>
            <a:ext cx="1800195" cy="1453477"/>
            <a:chOff x="0" y="0"/>
            <a:chExt cx="6350000" cy="51269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784095" y="8211277"/>
            <a:ext cx="1800195" cy="1453477"/>
            <a:chOff x="0" y="0"/>
            <a:chExt cx="6350000" cy="51269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12716" y="8211277"/>
            <a:ext cx="1800195" cy="1453477"/>
            <a:chOff x="0" y="0"/>
            <a:chExt cx="6350000" cy="51269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11" name="Freeform 11"/>
          <p:cNvSpPr/>
          <p:nvPr/>
        </p:nvSpPr>
        <p:spPr>
          <a:xfrm rot="1612909">
            <a:off x="-4052789" y="-1431352"/>
            <a:ext cx="6725972" cy="6725972"/>
          </a:xfrm>
          <a:custGeom>
            <a:avLst/>
            <a:gdLst/>
            <a:ahLst/>
            <a:cxnLst/>
            <a:rect l="l" t="t" r="r" b="b"/>
            <a:pathLst>
              <a:path w="6725972" h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0062" y="323991"/>
            <a:ext cx="16701410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CODE SNIPPETS AND CALCULATION</a:t>
            </a:r>
          </a:p>
          <a:p>
            <a:pPr algn="l">
              <a:lnSpc>
                <a:spcPts val="7930"/>
              </a:lnSpc>
            </a:pPr>
            <a:endParaRPr lang="en-US" sz="6500" b="1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55264" y="2838410"/>
            <a:ext cx="15261848" cy="502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9"/>
              </a:lnSpc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blitz = player_stats.get("chess_blitz", {}).get("record", {})</a:t>
            </a:r>
          </a:p>
          <a:p>
            <a:pPr marL="0" lvl="0" indent="0" algn="l">
              <a:lnSpc>
                <a:spcPts val="4479"/>
              </a:lnSpc>
            </a:pPr>
            <a:r>
              <a:rPr lang="en-US" sz="2799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bullet = player_stats.get("chess_bullet", {}).get("record", {})</a:t>
            </a:r>
          </a:p>
          <a:p>
            <a:pPr marL="0" lvl="0" indent="0" algn="l">
              <a:lnSpc>
                <a:spcPts val="4479"/>
              </a:lnSpc>
            </a:pPr>
            <a:endParaRPr lang="en-US" sz="2799" u="none" strike="noStrike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l">
              <a:lnSpc>
                <a:spcPts val="4479"/>
              </a:lnSpc>
            </a:pPr>
            <a:r>
              <a:rPr lang="en-US" sz="2799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blitz_total = blitz.get("win", 0) + blitz.get("loss", 0) + blitz.get("draw", 0)</a:t>
            </a:r>
          </a:p>
          <a:p>
            <a:pPr marL="0" lvl="0" indent="0" algn="l">
              <a:lnSpc>
                <a:spcPts val="4479"/>
              </a:lnSpc>
            </a:pPr>
            <a:r>
              <a:rPr lang="en-US" sz="2799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bullet_total = bullet.get("win", 0) + bullet.get("loss", 0) + bullet.get("draw", 0)</a:t>
            </a:r>
          </a:p>
          <a:p>
            <a:pPr marL="0" lvl="0" indent="0" algn="l">
              <a:lnSpc>
                <a:spcPts val="4479"/>
              </a:lnSpc>
            </a:pPr>
            <a:endParaRPr lang="en-US" sz="2799" u="none" strike="noStrike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l">
              <a:lnSpc>
                <a:spcPts val="4479"/>
              </a:lnSpc>
            </a:pPr>
            <a:r>
              <a:rPr lang="en-US" sz="2799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blitz_draws = blitz.get("draw", 0)</a:t>
            </a:r>
          </a:p>
          <a:p>
            <a:pPr marL="0" lvl="0" indent="0" algn="l">
              <a:lnSpc>
                <a:spcPts val="4479"/>
              </a:lnSpc>
            </a:pPr>
            <a:r>
              <a:rPr lang="en-US" sz="2799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bullet_draws = bullet.get("draw", 0)</a:t>
            </a:r>
          </a:p>
          <a:p>
            <a:pPr marL="0" lvl="0" indent="0" algn="l">
              <a:lnSpc>
                <a:spcPts val="4479"/>
              </a:lnSpc>
            </a:pPr>
            <a:endParaRPr lang="en-US" sz="2799" u="none" strike="noStrike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270888" y="2487295"/>
            <a:ext cx="15040646" cy="5728193"/>
          </a:xfrm>
          <a:custGeom>
            <a:avLst/>
            <a:gdLst/>
            <a:ahLst/>
            <a:cxnLst/>
            <a:rect l="l" t="t" r="r" b="b"/>
            <a:pathLst>
              <a:path w="15040646" h="5728193">
                <a:moveTo>
                  <a:pt x="0" y="0"/>
                </a:moveTo>
                <a:lnTo>
                  <a:pt x="15040646" y="0"/>
                </a:lnTo>
                <a:lnTo>
                  <a:pt x="15040646" y="5728193"/>
                </a:lnTo>
                <a:lnTo>
                  <a:pt x="0" y="57281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1019" r="-1476" b="-83899"/>
            </a:stretch>
          </a:blipFill>
          <a:ln w="8572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JP"/>
          </a:p>
        </p:txBody>
      </p:sp>
      <p:sp>
        <p:nvSpPr>
          <p:cNvPr id="5" name="Freeform 5"/>
          <p:cNvSpPr/>
          <p:nvPr/>
        </p:nvSpPr>
        <p:spPr>
          <a:xfrm rot="1612909">
            <a:off x="-1545243" y="-1289660"/>
            <a:ext cx="6725972" cy="6725972"/>
          </a:xfrm>
          <a:custGeom>
            <a:avLst/>
            <a:gdLst/>
            <a:ahLst/>
            <a:cxnLst/>
            <a:rect l="l" t="t" r="r" b="b"/>
            <a:pathLst>
              <a:path w="6725972" h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grpSp>
        <p:nvGrpSpPr>
          <p:cNvPr id="6" name="Group 6"/>
          <p:cNvGrpSpPr/>
          <p:nvPr/>
        </p:nvGrpSpPr>
        <p:grpSpPr>
          <a:xfrm>
            <a:off x="13355475" y="7804823"/>
            <a:ext cx="1800195" cy="1453477"/>
            <a:chOff x="0" y="0"/>
            <a:chExt cx="6350000" cy="51269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84095" y="7804823"/>
            <a:ext cx="1800195" cy="1453477"/>
            <a:chOff x="0" y="0"/>
            <a:chExt cx="6350000" cy="51269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212716" y="7804823"/>
            <a:ext cx="1800195" cy="1453477"/>
            <a:chOff x="0" y="0"/>
            <a:chExt cx="6350000" cy="51269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0062" y="323991"/>
            <a:ext cx="16701410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CODE SNIPPETS AND CALCULATION</a:t>
            </a:r>
          </a:p>
          <a:p>
            <a:pPr algn="l">
              <a:lnSpc>
                <a:spcPts val="7930"/>
              </a:lnSpc>
            </a:pPr>
            <a:endParaRPr lang="en-US" sz="6500" b="1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92762" y="1666459"/>
            <a:ext cx="10710979" cy="589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6"/>
              </a:lnSpc>
            </a:pPr>
            <a:r>
              <a:rPr lang="en-US" sz="24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df["d</a:t>
            </a:r>
            <a:r>
              <a:rPr lang="en-US" sz="2460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raw_rate_blitz"] = np.where(</a:t>
            </a:r>
          </a:p>
          <a:p>
            <a:pPr marL="0" lvl="0" indent="0" algn="l">
              <a:lnSpc>
                <a:spcPts val="3936"/>
              </a:lnSpc>
            </a:pPr>
            <a:r>
              <a:rPr lang="en-US" sz="2460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df["blitz_games_played"] &gt; 0,</a:t>
            </a:r>
          </a:p>
          <a:p>
            <a:pPr marL="0" lvl="0" indent="0" algn="l">
              <a:lnSpc>
                <a:spcPts val="3936"/>
              </a:lnSpc>
            </a:pPr>
            <a:r>
              <a:rPr lang="en-US" sz="2460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df["blitz_draws"] / df["blitz_games_played"],</a:t>
            </a:r>
          </a:p>
          <a:p>
            <a:pPr marL="0" lvl="0" indent="0" algn="l">
              <a:lnSpc>
                <a:spcPts val="3936"/>
              </a:lnSpc>
            </a:pPr>
            <a:r>
              <a:rPr lang="en-US" sz="2460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np.nan,</a:t>
            </a:r>
          </a:p>
          <a:p>
            <a:pPr marL="0" lvl="0" indent="0" algn="l">
              <a:lnSpc>
                <a:spcPts val="3936"/>
              </a:lnSpc>
            </a:pPr>
            <a:r>
              <a:rPr lang="en-US" sz="2460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  <a:p>
            <a:pPr marL="0" lvl="0" indent="0" algn="l">
              <a:lnSpc>
                <a:spcPts val="3936"/>
              </a:lnSpc>
            </a:pPr>
            <a:r>
              <a:rPr lang="en-US" sz="2460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df["draw_rate_bullet"] = np.where(</a:t>
            </a:r>
          </a:p>
          <a:p>
            <a:pPr marL="0" lvl="0" indent="0" algn="l">
              <a:lnSpc>
                <a:spcPts val="3936"/>
              </a:lnSpc>
            </a:pPr>
            <a:r>
              <a:rPr lang="en-US" sz="2460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df["bullet_games_played"] &gt; 0,</a:t>
            </a:r>
          </a:p>
          <a:p>
            <a:pPr marL="0" lvl="0" indent="0" algn="l">
              <a:lnSpc>
                <a:spcPts val="3936"/>
              </a:lnSpc>
            </a:pPr>
            <a:r>
              <a:rPr lang="en-US" sz="2460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df["bullet_draws"] / df["bullet_games_played"],</a:t>
            </a:r>
          </a:p>
          <a:p>
            <a:pPr marL="0" lvl="0" indent="0" algn="l">
              <a:lnSpc>
                <a:spcPts val="3936"/>
              </a:lnSpc>
            </a:pPr>
            <a:r>
              <a:rPr lang="en-US" sz="2460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np.nan,</a:t>
            </a:r>
          </a:p>
          <a:p>
            <a:pPr marL="0" lvl="0" indent="0" algn="l">
              <a:lnSpc>
                <a:spcPts val="3936"/>
              </a:lnSpc>
            </a:pPr>
            <a:r>
              <a:rPr lang="en-US" sz="2460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  <a:p>
            <a:pPr marL="0" lvl="0" indent="0" algn="l">
              <a:lnSpc>
                <a:spcPts val="3936"/>
              </a:lnSpc>
            </a:pPr>
            <a:r>
              <a:rPr lang="en-US" sz="2460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df["draw_diff"] = df["draw_rate_blitz"] - df["draw_rate_bullet"]</a:t>
            </a:r>
          </a:p>
          <a:p>
            <a:pPr marL="0" lvl="0" indent="0" algn="l">
              <a:lnSpc>
                <a:spcPts val="3936"/>
              </a:lnSpc>
            </a:pPr>
            <a:endParaRPr lang="en-US" sz="2460" u="none" strike="noStrike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80149" y="2908139"/>
            <a:ext cx="9678128" cy="4537002"/>
            <a:chOff x="0" y="0"/>
            <a:chExt cx="2900928" cy="13599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00928" cy="1359924"/>
            </a:xfrm>
            <a:custGeom>
              <a:avLst/>
              <a:gdLst/>
              <a:ahLst/>
              <a:cxnLst/>
              <a:rect l="l" t="t" r="r" b="b"/>
              <a:pathLst>
                <a:path w="2900928" h="1359924">
                  <a:moveTo>
                    <a:pt x="0" y="0"/>
                  </a:moveTo>
                  <a:lnTo>
                    <a:pt x="2900928" y="0"/>
                  </a:lnTo>
                  <a:lnTo>
                    <a:pt x="2900928" y="1359924"/>
                  </a:lnTo>
                  <a:lnTo>
                    <a:pt x="0" y="13599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JP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00928" cy="1398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783711" y="1526699"/>
            <a:ext cx="16809148" cy="6035546"/>
          </a:xfrm>
          <a:custGeom>
            <a:avLst/>
            <a:gdLst/>
            <a:ahLst/>
            <a:cxnLst/>
            <a:rect l="l" t="t" r="r" b="b"/>
            <a:pathLst>
              <a:path w="16809148" h="6035546">
                <a:moveTo>
                  <a:pt x="0" y="0"/>
                </a:moveTo>
                <a:lnTo>
                  <a:pt x="16809148" y="0"/>
                </a:lnTo>
                <a:lnTo>
                  <a:pt x="16809148" y="6035546"/>
                </a:lnTo>
                <a:lnTo>
                  <a:pt x="0" y="603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82" t="-186936" b="-82893"/>
            </a:stretch>
          </a:blipFill>
          <a:ln w="8572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JP"/>
          </a:p>
        </p:txBody>
      </p:sp>
      <p:sp>
        <p:nvSpPr>
          <p:cNvPr id="8" name="Freeform 8"/>
          <p:cNvSpPr/>
          <p:nvPr/>
        </p:nvSpPr>
        <p:spPr>
          <a:xfrm rot="1612909">
            <a:off x="-1545243" y="-1289660"/>
            <a:ext cx="6725972" cy="6725972"/>
          </a:xfrm>
          <a:custGeom>
            <a:avLst/>
            <a:gdLst/>
            <a:ahLst/>
            <a:cxnLst/>
            <a:rect l="l" t="t" r="r" b="b"/>
            <a:pathLst>
              <a:path w="6725972" h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grpSp>
        <p:nvGrpSpPr>
          <p:cNvPr id="9" name="Group 9"/>
          <p:cNvGrpSpPr/>
          <p:nvPr/>
        </p:nvGrpSpPr>
        <p:grpSpPr>
          <a:xfrm>
            <a:off x="13355475" y="7804823"/>
            <a:ext cx="1800195" cy="1453477"/>
            <a:chOff x="0" y="0"/>
            <a:chExt cx="6350000" cy="51269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784095" y="7804823"/>
            <a:ext cx="1800195" cy="1453477"/>
            <a:chOff x="0" y="0"/>
            <a:chExt cx="6350000" cy="51269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12716" y="7804823"/>
            <a:ext cx="1800195" cy="1453477"/>
            <a:chOff x="0" y="0"/>
            <a:chExt cx="6350000" cy="51269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0062" y="323991"/>
            <a:ext cx="16701410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RESULTS</a:t>
            </a:r>
          </a:p>
          <a:p>
            <a:pPr algn="l">
              <a:lnSpc>
                <a:spcPts val="7930"/>
              </a:lnSpc>
            </a:pPr>
            <a:endParaRPr lang="en-US" sz="6500" b="1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644142" y="1791958"/>
            <a:ext cx="12416026" cy="6924059"/>
          </a:xfrm>
          <a:custGeom>
            <a:avLst/>
            <a:gdLst/>
            <a:ahLst/>
            <a:cxnLst/>
            <a:rect l="l" t="t" r="r" b="b"/>
            <a:pathLst>
              <a:path w="12416026" h="6924059">
                <a:moveTo>
                  <a:pt x="0" y="0"/>
                </a:moveTo>
                <a:lnTo>
                  <a:pt x="12416026" y="0"/>
                </a:lnTo>
                <a:lnTo>
                  <a:pt x="12416026" y="6924059"/>
                </a:lnTo>
                <a:lnTo>
                  <a:pt x="0" y="6924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5086" r="-32640" b="-62806"/>
            </a:stretch>
          </a:blipFill>
          <a:ln w="8572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JP"/>
          </a:p>
        </p:txBody>
      </p:sp>
      <p:sp>
        <p:nvSpPr>
          <p:cNvPr id="4" name="Freeform 4"/>
          <p:cNvSpPr/>
          <p:nvPr/>
        </p:nvSpPr>
        <p:spPr>
          <a:xfrm rot="1612909">
            <a:off x="-1545243" y="-1289660"/>
            <a:ext cx="6725972" cy="6725972"/>
          </a:xfrm>
          <a:custGeom>
            <a:avLst/>
            <a:gdLst/>
            <a:ahLst/>
            <a:cxnLst/>
            <a:rect l="l" t="t" r="r" b="b"/>
            <a:pathLst>
              <a:path w="6725972" h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grpSp>
        <p:nvGrpSpPr>
          <p:cNvPr id="5" name="Group 5"/>
          <p:cNvGrpSpPr/>
          <p:nvPr/>
        </p:nvGrpSpPr>
        <p:grpSpPr>
          <a:xfrm>
            <a:off x="13355475" y="7804823"/>
            <a:ext cx="1800195" cy="1453477"/>
            <a:chOff x="0" y="0"/>
            <a:chExt cx="6350000" cy="51269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784095" y="7804823"/>
            <a:ext cx="1800195" cy="1453477"/>
            <a:chOff x="0" y="0"/>
            <a:chExt cx="6350000" cy="51269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12716" y="7804823"/>
            <a:ext cx="1800195" cy="1453477"/>
            <a:chOff x="0" y="0"/>
            <a:chExt cx="6350000" cy="51269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86789" y="2133041"/>
            <a:ext cx="11374747" cy="6241893"/>
          </a:xfrm>
          <a:custGeom>
            <a:avLst/>
            <a:gdLst/>
            <a:ahLst/>
            <a:cxnLst/>
            <a:rect l="l" t="t" r="r" b="b"/>
            <a:pathLst>
              <a:path w="11374747" h="6241893">
                <a:moveTo>
                  <a:pt x="0" y="0"/>
                </a:moveTo>
                <a:lnTo>
                  <a:pt x="11374747" y="0"/>
                </a:lnTo>
                <a:lnTo>
                  <a:pt x="11374747" y="6241893"/>
                </a:lnTo>
                <a:lnTo>
                  <a:pt x="0" y="6241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48726" y="-346300"/>
            <a:ext cx="20072127" cy="11290571"/>
          </a:xfrm>
          <a:custGeom>
            <a:avLst/>
            <a:gdLst/>
            <a:ahLst/>
            <a:cxnLst/>
            <a:rect l="l" t="t" r="r" b="b"/>
            <a:pathLst>
              <a:path w="20072127" h="11290571">
                <a:moveTo>
                  <a:pt x="0" y="0"/>
                </a:moveTo>
                <a:lnTo>
                  <a:pt x="20072127" y="0"/>
                </a:lnTo>
                <a:lnTo>
                  <a:pt x="20072127" y="11290572"/>
                </a:lnTo>
                <a:lnTo>
                  <a:pt x="0" y="1129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8888" b="-38888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3" name="TextBox 3"/>
          <p:cNvSpPr txBox="1"/>
          <p:nvPr/>
        </p:nvSpPr>
        <p:spPr>
          <a:xfrm>
            <a:off x="4109089" y="17780"/>
            <a:ext cx="16701410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VISUALISATION</a:t>
            </a:r>
          </a:p>
          <a:p>
            <a:pPr algn="l">
              <a:lnSpc>
                <a:spcPts val="7930"/>
              </a:lnSpc>
            </a:pPr>
            <a:endParaRPr lang="en-US" sz="6500" b="1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3726265" y="1228198"/>
            <a:ext cx="11103095" cy="8540758"/>
          </a:xfrm>
          <a:custGeom>
            <a:avLst/>
            <a:gdLst/>
            <a:ahLst/>
            <a:cxnLst/>
            <a:rect l="l" t="t" r="r" b="b"/>
            <a:pathLst>
              <a:path w="11103095" h="8540758">
                <a:moveTo>
                  <a:pt x="0" y="0"/>
                </a:moveTo>
                <a:lnTo>
                  <a:pt x="11103095" y="0"/>
                </a:lnTo>
                <a:lnTo>
                  <a:pt x="11103095" y="8540758"/>
                </a:lnTo>
                <a:lnTo>
                  <a:pt x="0" y="8540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48" b="-648"/>
            </a:stretch>
          </a:blipFill>
        </p:spPr>
        <p:txBody>
          <a:bodyPr/>
          <a:lstStyle/>
          <a:p>
            <a:endParaRPr lang="en-JP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58251" y="-346300"/>
            <a:ext cx="20072127" cy="11290571"/>
          </a:xfrm>
          <a:custGeom>
            <a:avLst/>
            <a:gdLst/>
            <a:ahLst/>
            <a:cxnLst/>
            <a:rect l="l" t="t" r="r" b="b"/>
            <a:pathLst>
              <a:path w="20072127" h="11290571">
                <a:moveTo>
                  <a:pt x="0" y="0"/>
                </a:moveTo>
                <a:lnTo>
                  <a:pt x="20072127" y="0"/>
                </a:lnTo>
                <a:lnTo>
                  <a:pt x="20072127" y="11290572"/>
                </a:lnTo>
                <a:lnTo>
                  <a:pt x="0" y="1129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8888" b="-38888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3" name="Freeform 3"/>
          <p:cNvSpPr/>
          <p:nvPr/>
        </p:nvSpPr>
        <p:spPr>
          <a:xfrm>
            <a:off x="3456256" y="1460634"/>
            <a:ext cx="10729411" cy="8384269"/>
          </a:xfrm>
          <a:custGeom>
            <a:avLst/>
            <a:gdLst/>
            <a:ahLst/>
            <a:cxnLst/>
            <a:rect l="l" t="t" r="r" b="b"/>
            <a:pathLst>
              <a:path w="10729411" h="8384269">
                <a:moveTo>
                  <a:pt x="0" y="0"/>
                </a:moveTo>
                <a:lnTo>
                  <a:pt x="10729412" y="0"/>
                </a:lnTo>
                <a:lnTo>
                  <a:pt x="10729412" y="8384269"/>
                </a:lnTo>
                <a:lnTo>
                  <a:pt x="0" y="8384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4" name="TextBox 4"/>
          <p:cNvSpPr txBox="1"/>
          <p:nvPr/>
        </p:nvSpPr>
        <p:spPr>
          <a:xfrm>
            <a:off x="4109089" y="17780"/>
            <a:ext cx="16701410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VISUALISATION</a:t>
            </a:r>
          </a:p>
          <a:p>
            <a:pPr algn="l">
              <a:lnSpc>
                <a:spcPts val="7930"/>
              </a:lnSpc>
            </a:pPr>
            <a:endParaRPr lang="en-US" sz="6500" b="1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0062" y="323991"/>
            <a:ext cx="16701410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RESULTS</a:t>
            </a:r>
          </a:p>
          <a:p>
            <a:pPr algn="l">
              <a:lnSpc>
                <a:spcPts val="7930"/>
              </a:lnSpc>
            </a:pPr>
            <a:endParaRPr lang="en-US" sz="6500" b="1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380909" y="1838704"/>
            <a:ext cx="13874663" cy="5833438"/>
          </a:xfrm>
          <a:custGeom>
            <a:avLst/>
            <a:gdLst/>
            <a:ahLst/>
            <a:cxnLst/>
            <a:rect l="l" t="t" r="r" b="b"/>
            <a:pathLst>
              <a:path w="13874663" h="5833438">
                <a:moveTo>
                  <a:pt x="0" y="0"/>
                </a:moveTo>
                <a:lnTo>
                  <a:pt x="13874663" y="0"/>
                </a:lnTo>
                <a:lnTo>
                  <a:pt x="13874663" y="5833438"/>
                </a:lnTo>
                <a:lnTo>
                  <a:pt x="0" y="5833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5086" b="-62806"/>
            </a:stretch>
          </a:blipFill>
          <a:ln w="8572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JP"/>
          </a:p>
        </p:txBody>
      </p:sp>
      <p:sp>
        <p:nvSpPr>
          <p:cNvPr id="4" name="TextBox 4"/>
          <p:cNvSpPr txBox="1"/>
          <p:nvPr/>
        </p:nvSpPr>
        <p:spPr>
          <a:xfrm>
            <a:off x="380909" y="2765101"/>
            <a:ext cx="13570631" cy="4172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0849" lvl="1" indent="-450424" algn="just">
              <a:lnSpc>
                <a:spcPts val="6676"/>
              </a:lnSpc>
              <a:buFont typeface="Arial"/>
              <a:buChar char="•"/>
            </a:pPr>
            <a:r>
              <a:rPr lang="en-US" sz="417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T-test: 12.3649</a:t>
            </a:r>
          </a:p>
          <a:p>
            <a:pPr marL="900849" lvl="1" indent="-450424" algn="just">
              <a:lnSpc>
                <a:spcPts val="6676"/>
              </a:lnSpc>
              <a:buFont typeface="Arial"/>
              <a:buChar char="•"/>
            </a:pPr>
            <a:r>
              <a:rPr lang="en-US" sz="417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P-value: 0.0000000</a:t>
            </a:r>
          </a:p>
          <a:p>
            <a:pPr marL="900849" lvl="1" indent="-450424" algn="just">
              <a:lnSpc>
                <a:spcPts val="6676"/>
              </a:lnSpc>
              <a:buFont typeface="Arial"/>
              <a:buChar char="•"/>
            </a:pPr>
            <a:r>
              <a:rPr lang="en-US" sz="417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Reject the null hypothesis </a:t>
            </a:r>
          </a:p>
          <a:p>
            <a:pPr marL="900849" lvl="1" indent="-450424" algn="just">
              <a:lnSpc>
                <a:spcPts val="6676"/>
              </a:lnSpc>
              <a:buFont typeface="Arial"/>
              <a:buChar char="•"/>
            </a:pPr>
            <a:r>
              <a:rPr lang="en-US" sz="417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→ Players have a HIGHER draw rate in Blitz games than in Bullet games.</a:t>
            </a:r>
          </a:p>
        </p:txBody>
      </p:sp>
      <p:sp>
        <p:nvSpPr>
          <p:cNvPr id="5" name="Freeform 5"/>
          <p:cNvSpPr/>
          <p:nvPr/>
        </p:nvSpPr>
        <p:spPr>
          <a:xfrm rot="1612909">
            <a:off x="-1545243" y="-1289660"/>
            <a:ext cx="6725972" cy="6725972"/>
          </a:xfrm>
          <a:custGeom>
            <a:avLst/>
            <a:gdLst/>
            <a:ahLst/>
            <a:cxnLst/>
            <a:rect l="l" t="t" r="r" b="b"/>
            <a:pathLst>
              <a:path w="6725972" h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grpSp>
        <p:nvGrpSpPr>
          <p:cNvPr id="6" name="Group 6"/>
          <p:cNvGrpSpPr/>
          <p:nvPr/>
        </p:nvGrpSpPr>
        <p:grpSpPr>
          <a:xfrm>
            <a:off x="13355475" y="7804823"/>
            <a:ext cx="1800195" cy="1453477"/>
            <a:chOff x="0" y="0"/>
            <a:chExt cx="6350000" cy="51269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84095" y="7804823"/>
            <a:ext cx="1800195" cy="1453477"/>
            <a:chOff x="0" y="0"/>
            <a:chExt cx="6350000" cy="51269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212716" y="7804823"/>
            <a:ext cx="1800195" cy="1453477"/>
            <a:chOff x="0" y="0"/>
            <a:chExt cx="6350000" cy="51269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12909">
            <a:off x="-1545243" y="-1289660"/>
            <a:ext cx="6725972" cy="6725972"/>
          </a:xfrm>
          <a:custGeom>
            <a:avLst/>
            <a:gdLst/>
            <a:ahLst/>
            <a:cxnLst/>
            <a:rect l="l" t="t" r="r" b="b"/>
            <a:pathLst>
              <a:path w="6725972" h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grpSp>
        <p:nvGrpSpPr>
          <p:cNvPr id="3" name="Group 3"/>
          <p:cNvGrpSpPr/>
          <p:nvPr/>
        </p:nvGrpSpPr>
        <p:grpSpPr>
          <a:xfrm>
            <a:off x="13355475" y="7804823"/>
            <a:ext cx="1800195" cy="1453477"/>
            <a:chOff x="0" y="0"/>
            <a:chExt cx="6350000" cy="51269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84095" y="7804823"/>
            <a:ext cx="1800195" cy="1453477"/>
            <a:chOff x="0" y="0"/>
            <a:chExt cx="6350000" cy="51269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12716" y="7804823"/>
            <a:ext cx="1800195" cy="1453477"/>
            <a:chOff x="0" y="0"/>
            <a:chExt cx="6350000" cy="51269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l="l" t="t" r="r" b="b"/>
              <a:pathLst>
                <a:path w="6350000" h="512699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30062" y="323991"/>
            <a:ext cx="16701410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6584" y="2146427"/>
            <a:ext cx="16212716" cy="5994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2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FIRST NULL HYPOTHESIS STATED THAT THE EFFECT OF PLAYING AS WHITE ON WIN PROBABILITY DOES NOT VARY BY TIME CONTROL.HOWEVER, THE RESULTS OF THE TWO-PROPORTION Z-TEST REVEALED STATISTICALLY SIGNIFICANT DIFFERENCES BETWEEN THE WIN RATES OF WHITE AND BLACK PLAYERS ACROSS ALL TIME CONTROLS — BLITZ, BULLET, RAPID, AND DAILY. SINCE THE P-VALUES FOR ALL FORMATS WERE BELOW THE 0.05 SIGNIFICANCE LEVEL, WE REJECT THE NULL HYPOTHESIS (H₀) AND CONCLUDE THAT PLAYING AS WHITE HAS A DIFFERENT, AND GENERALLY HIGHER, IMPACT ON WIN PROBABILITY DEPENDING ON THE TIME CONTROL.</a:t>
            </a:r>
          </a:p>
          <a:p>
            <a:pPr algn="ctr">
              <a:lnSpc>
                <a:spcPts val="3172"/>
              </a:lnSpc>
              <a:spcBef>
                <a:spcPct val="0"/>
              </a:spcBef>
            </a:pPr>
            <a:endParaRPr lang="en-US" sz="2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3172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SECOND NULL HYPOTHESIS PROPOSED THAT THERE IS NO DIFFERENCE IN DRAW RATES BETWEEN BLITZ AND BULLET GAMES. THE T-TEST PRODUCED A STATISTIC OF 12.3649 WITH A P-VALUE OF 0.0000000, WHICH IS FAR BELOW THE 0.05 THRESHOLD. THEREFORE, WE ALSO REJECT THE NULL HYPOTHESIS AND CONCLUDE THAT THERE IS A SIGNIFICANT DIFFERENCE IN DRAW RATES BETWEEN BLITZ AND BULLET FORMATS.</a:t>
            </a:r>
          </a:p>
          <a:p>
            <a:pPr algn="ctr">
              <a:lnSpc>
                <a:spcPts val="3172"/>
              </a:lnSpc>
              <a:spcBef>
                <a:spcPct val="0"/>
              </a:spcBef>
            </a:pPr>
            <a:endParaRPr lang="en-US" sz="2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44521" y="714375"/>
            <a:ext cx="12398957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38702" y="1835150"/>
            <a:ext cx="14210595" cy="7916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3570" lvl="1" indent="-346785" algn="l">
              <a:lnSpc>
                <a:spcPts val="3919"/>
              </a:lnSpc>
              <a:buFont typeface="Arial"/>
              <a:buChar char="•"/>
            </a:pPr>
            <a:r>
              <a:rPr lang="en-US" sz="3212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TAN, S. (2024, JUNE 5). GETTING CHESS.COM GAME DATA WITH POSTMAN, USE PYTHON AND ANALYZE. MEDIUM. </a:t>
            </a:r>
            <a:r>
              <a:rPr lang="en-US" sz="3212" b="1" u="sng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2" tooltip="https://medium.com/@stanleytan_4595/getting-chess-com-game-data-with-postman-use-python-and-analyze-48891a502483"/>
              </a:rPr>
              <a:t>https://medium.com/@stanleytan_4595/getting-chess-com-game-data-with-postman-use-python-and-analyze-48891a502483</a:t>
            </a:r>
          </a:p>
          <a:p>
            <a:pPr marL="693570" lvl="1" indent="-346785" algn="l">
              <a:lnSpc>
                <a:spcPts val="3919"/>
              </a:lnSpc>
              <a:buFont typeface="Arial"/>
              <a:buChar char="•"/>
            </a:pPr>
            <a:r>
              <a:rPr lang="en-US" sz="3212" b="1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SHEDLOAD OF CODE. (2021, JULY 10). HOW TO SCRAPE AND ANALYSE YOUR CHESS.COM DATA. </a:t>
            </a:r>
            <a:r>
              <a:rPr lang="en-US" sz="3212" b="1" u="sng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3" tooltip="https://www.shedloadofcode.com/blog/how-to-scrape-and-analyse-your-chess-com-data"/>
              </a:rPr>
              <a:t>HTTPS://WWW.SHEDLOADOFCODE.COM/BLOG/HOW-TO-SCRAPE-AND-ANALYSE-YOUR-CHESS-COM-DATA</a:t>
            </a:r>
          </a:p>
          <a:p>
            <a:pPr marL="693570" lvl="1" indent="-346785" algn="l">
              <a:lnSpc>
                <a:spcPts val="3919"/>
              </a:lnSpc>
              <a:buFont typeface="Arial"/>
              <a:buChar char="•"/>
            </a:pPr>
            <a:r>
              <a:rPr lang="en-US" sz="3212" b="1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CHESS</a:t>
            </a:r>
            <a:r>
              <a:rPr lang="en-US" sz="3212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.COM. CHESS A</a:t>
            </a:r>
            <a:r>
              <a:rPr lang="en-US" sz="3212" b="1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PI</a:t>
            </a:r>
            <a:r>
              <a:rPr lang="en-US" sz="3212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.</a:t>
            </a:r>
            <a:r>
              <a:rPr lang="en-US" sz="3212" b="1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  <a:r>
              <a:rPr lang="en-US" sz="3212" b="1" u="sng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4" tooltip="https://www.chess.com/news/view/published-data-api"/>
              </a:rPr>
              <a:t>HTTPS://WWW.CHESS.COM/NEWS/VIEW/PUBLISHED-DATA-API</a:t>
            </a:r>
          </a:p>
          <a:p>
            <a:pPr marL="693570" lvl="1" indent="-346785" algn="l">
              <a:lnSpc>
                <a:spcPts val="3919"/>
              </a:lnSpc>
              <a:buFont typeface="Arial"/>
              <a:buChar char="•"/>
            </a:pPr>
            <a:r>
              <a:rPr lang="en-US" sz="3212" b="1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BURNS, B. D. (2004). THE </a:t>
            </a:r>
            <a:r>
              <a:rPr lang="en-US" sz="3212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</a:t>
            </a:r>
            <a:r>
              <a:rPr lang="en-US" sz="3212" b="1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FFECTS OF </a:t>
            </a:r>
            <a:r>
              <a:rPr lang="en-US" sz="3212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</a:t>
            </a:r>
            <a:r>
              <a:rPr lang="en-US" sz="3212" b="1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PEED ON </a:t>
            </a:r>
            <a:r>
              <a:rPr lang="en-US" sz="3212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</a:t>
            </a:r>
            <a:r>
              <a:rPr lang="en-US" sz="3212" b="1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KILLED </a:t>
            </a:r>
            <a:r>
              <a:rPr lang="en-US" sz="3212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</a:t>
            </a:r>
            <a:r>
              <a:rPr lang="en-US" sz="3212" b="1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HESS </a:t>
            </a:r>
            <a:r>
              <a:rPr lang="en-US" sz="3212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</a:t>
            </a:r>
            <a:r>
              <a:rPr lang="en-US" sz="3212" b="1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ERFORMANCE. PSYCHOLOGICAL SCIENCE, 15(7), 442</a:t>
            </a:r>
            <a:r>
              <a:rPr lang="en-US" sz="3212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–</a:t>
            </a:r>
            <a:r>
              <a:rPr lang="en-US" sz="3212" b="1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447. </a:t>
            </a:r>
            <a:r>
              <a:rPr lang="en-US" sz="3212" b="1" u="sng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5" tooltip="https://doi.org/10.1111/j.0956-7976.2004.00699.x"/>
              </a:rPr>
              <a:t>HTTPS://DOI.ORG/10.1111/J.0956-7976.2004.00699.X</a:t>
            </a:r>
          </a:p>
          <a:p>
            <a:pPr algn="l">
              <a:lnSpc>
                <a:spcPts val="3919"/>
              </a:lnSpc>
            </a:pPr>
            <a:endParaRPr lang="en-US" sz="3212" b="1" u="sng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  <a:hlinkClick r:id="rId5" tooltip="https://doi.org/10.1111/j.0956-7976.2004.00699.x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1182</Words>
  <Application>Microsoft Macintosh PowerPoint</Application>
  <PresentationFormat>Custom</PresentationFormat>
  <Paragraphs>104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Open Sans Bold</vt:lpstr>
      <vt:lpstr>Arial</vt:lpstr>
      <vt:lpstr>Canva Sans Bold</vt:lpstr>
      <vt:lpstr>The Seasons</vt:lpstr>
      <vt:lpstr>Open Sauce</vt:lpstr>
      <vt:lpstr>Open Sauce Bold</vt:lpstr>
      <vt:lpstr>Montserrat Bold</vt:lpstr>
      <vt:lpstr>Calibri</vt:lpstr>
      <vt:lpstr>Montserrat</vt:lpstr>
      <vt:lpstr>Open Sans</vt:lpstr>
      <vt:lpstr>Montserrat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EDA: Chess API</dc:title>
  <cp:lastModifiedBy>s23229565</cp:lastModifiedBy>
  <cp:revision>1</cp:revision>
  <dcterms:created xsi:type="dcterms:W3CDTF">2006-08-16T00:00:00Z</dcterms:created>
  <dcterms:modified xsi:type="dcterms:W3CDTF">2025-11-10T07:22:09Z</dcterms:modified>
  <dc:identifier>DAG23HNSFsM</dc:identifier>
</cp:coreProperties>
</file>